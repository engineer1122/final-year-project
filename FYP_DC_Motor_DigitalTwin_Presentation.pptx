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3152" cy="73152"/>
          </a:xfrm>
          <a:prstGeom prst="ellipse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73152"/>
          </a:xfrm>
          <a:prstGeom prst="ellipse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274320"/>
            <a:ext cx="73152" cy="73152"/>
          </a:xfrm>
          <a:prstGeom prst="ellipse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4663440"/>
            <a:ext cx="73152" cy="73152"/>
          </a:xfrm>
          <a:prstGeom prst="ellipse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4572000"/>
            <a:ext cx="73152" cy="73152"/>
          </a:xfrm>
          <a:prstGeom prst="ellipse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82880"/>
            <a:ext cx="73152" cy="73152"/>
          </a:xfrm>
          <a:prstGeom prst="ellipse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005840"/>
            <a:ext cx="2286000" cy="0"/>
          </a:xfrm>
          <a:prstGeom prst="line">
            <a:avLst/>
          </a:prstGeom>
          <a:noFill/>
          <a:ln w="12700">
            <a:solidFill>
              <a:srgbClr val="00D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4114800"/>
            <a:ext cx="228600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114800"/>
            <a:ext cx="1371600" cy="0"/>
          </a:xfrm>
          <a:prstGeom prst="line">
            <a:avLst/>
          </a:prstGeom>
          <a:noFill/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ISLAMIA UNIVERSITY OF BAHAWALPUR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57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System Engineering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0" y="777240"/>
            <a:ext cx="5486400" cy="0"/>
          </a:xfrm>
          <a:prstGeom prst="line">
            <a:avLst/>
          </a:prstGeom>
          <a:noFill/>
          <a:ln w="6350">
            <a:solidFill>
              <a:srgbClr val="00D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960120"/>
            <a:ext cx="8046720" cy="1920240"/>
          </a:xfrm>
          <a:prstGeom prst="rect">
            <a:avLst/>
          </a:prstGeom>
          <a:solidFill>
            <a:srgbClr val="0D2554"/>
          </a:solidFill>
          <a:ln w="1905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960120"/>
            <a:ext cx="164592" cy="192024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100584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Digital Twin for Fault Analysis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Predictive Maintenance of a DC Motor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  |  2025–26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456432"/>
            <a:ext cx="2514600" cy="685800"/>
          </a:xfrm>
          <a:prstGeom prst="rect">
            <a:avLst/>
          </a:prstGeom>
          <a:solidFill>
            <a:srgbClr val="0D2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4930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Students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7307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 |  Ubaid Ullah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456432"/>
            <a:ext cx="2514600" cy="685800"/>
          </a:xfrm>
          <a:prstGeom prst="rect">
            <a:avLst/>
          </a:prstGeom>
          <a:solidFill>
            <a:srgbClr val="0D2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0" y="34930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Supervisor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37307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Qaiser Ajaz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3456432"/>
            <a:ext cx="2514600" cy="685800"/>
          </a:xfrm>
          <a:prstGeom prst="rect">
            <a:avLst/>
          </a:prstGeom>
          <a:solidFill>
            <a:srgbClr val="0D2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3493008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Year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373075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566928" cy="109728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77240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10058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Digital Twin Concept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03120"/>
            <a:ext cx="566928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03120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78408" y="233172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566928" cy="109728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29000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8408" y="365760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Hardware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7772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777240"/>
            <a:ext cx="566928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777240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58968" y="100584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&amp; MQTT Communication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2103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2103120"/>
            <a:ext cx="566928" cy="109728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103120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58968" y="233172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Digital Twin Visualisation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34290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429000"/>
            <a:ext cx="566928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3429000"/>
            <a:ext cx="5669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58968" y="3657600"/>
            <a:ext cx="3401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Conclusion &amp; Future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Digital Twins &amp; DC Motors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49808"/>
            <a:ext cx="109728" cy="41148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9808"/>
            <a:ext cx="4114800" cy="2743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749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DIGITAL TWIN?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Twin is a virtual real-time replica of a physical system that mirrors its behaviour, performance, and health.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via IoT sensors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before failure occurs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diagnostics from anywhere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unplanned downtime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DC Motors?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industry, robotics &amp; automation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to: overheating, overcurrent, vibration, RPM faults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49808"/>
            <a:ext cx="109728" cy="4114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49808"/>
            <a:ext cx="420624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USE CASES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quality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3474720" cy="20116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63040"/>
            <a:ext cx="2571293" cy="20116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7613" y="1463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mfg. costs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121408"/>
            <a:ext cx="3474720" cy="20116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121408"/>
            <a:ext cx="2084832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212140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0060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up-time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779776"/>
            <a:ext cx="3474720" cy="20116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779776"/>
            <a:ext cx="1320394" cy="20116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6714" y="27797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31638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maintenance costs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3438144"/>
            <a:ext cx="3474720" cy="20116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438144"/>
            <a:ext cx="1181405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27725" y="34381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00600" y="3822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4096512"/>
            <a:ext cx="3474720" cy="201168"/>
          </a:xfrm>
          <a:prstGeom prst="rect">
            <a:avLst/>
          </a:prstGeom>
          <a:solidFill>
            <a:srgbClr val="E2EAF4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096512"/>
            <a:ext cx="1911096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40965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49808"/>
            <a:ext cx="8046720" cy="1280160"/>
          </a:xfrm>
          <a:prstGeom prst="rect">
            <a:avLst/>
          </a:prstGeom>
          <a:solidFill>
            <a:srgbClr val="0B1C3F"/>
          </a:solidFill>
          <a:ln w="2540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749808"/>
            <a:ext cx="164592" cy="12801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804672"/>
            <a:ext cx="7589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DC motor monitoring systems are reactive — faults are detected only after failure occurs.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leads to unplanned downtime, high repair costs, and reduced motor lifespan.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38144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like overheating or overcurrent go undetected until motor fails completely.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22402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2240280"/>
            <a:ext cx="27432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29077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438144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connectivity — engineer must be physically present to check motor status.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9320" y="22402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22402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29077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438144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is scheduled arbitrarily — no data-driven estimation of remaining life.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IoT-Based Digital Twin with ESP32 + MQTT + Dashboard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594360" cy="126187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85953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18872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Temp, Current, RPM &amp; Vibration every 500ms using DS18B20, ACS712, Hall sensor &amp; SW-420.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594360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74980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22392" y="85953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Fault Detection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22392" y="118872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computes fault flags: overheat, overcurrent, vibration persist, RPM drop — all on-device.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16712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67128"/>
            <a:ext cx="594360" cy="126187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6712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227685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Cloud Communication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260604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JSON data to broker.hivemq.com every 500ms. Works on any network — no IP config needed.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16712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67128"/>
            <a:ext cx="594360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6712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22392" y="227685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22392" y="260604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dashboard with live Plotly graphs, health status, fault flags &amp; 3D motor model.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58444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584448"/>
            <a:ext cx="594360" cy="126187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58444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1832" y="369417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Estimation in Days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1832" y="402336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on 60s of data estimates Remaining Useful Life for Temp, Current &amp; Vibration.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58444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84448"/>
            <a:ext cx="594360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8444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22392" y="369417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Indicators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22392" y="402336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SH1106 OLED shows live data. RGB LEDs for temperature, current &amp; vibration status on-site.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77240"/>
            <a:ext cx="1737360" cy="4114800"/>
          </a:xfrm>
          <a:prstGeom prst="rect">
            <a:avLst/>
          </a:prstGeom>
          <a:solidFill>
            <a:srgbClr val="FFF3E0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777240"/>
            <a:ext cx="1737360" cy="27432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15544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795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147218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GPIO4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15544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048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ACS712-20A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34086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GPIO34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15544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291693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SW-420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32095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GPIO27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15544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7856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Hall/IR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0782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GPIO14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38528" y="2834640"/>
            <a:ext cx="50292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70662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68880" y="777240"/>
            <a:ext cx="2011680" cy="4114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777240"/>
            <a:ext cx="2011680" cy="274320"/>
          </a:xfrm>
          <a:prstGeom prst="rect">
            <a:avLst/>
          </a:prstGeom>
          <a:solidFill>
            <a:srgbClr val="00D4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42032" y="11155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WiFiManager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1527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Moving Avg Filter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42032" y="19385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RPM Interrupt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42032" y="23500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 Detection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42032" y="2761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 Status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42032" y="31729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Circular Buffer (200)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42032" y="35844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Builder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542032" y="39959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MQTT Publish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98848" y="1645920"/>
            <a:ext cx="502920" cy="0"/>
          </a:xfrm>
          <a:prstGeom prst="line">
            <a:avLst/>
          </a:prstGeom>
          <a:noFill/>
          <a:ln w="25400">
            <a:solidFill>
              <a:srgbClr val="00D4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11887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64608" y="151790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1188720"/>
            <a:ext cx="2011680" cy="1097280"/>
          </a:xfrm>
          <a:prstGeom prst="rect">
            <a:avLst/>
          </a:prstGeom>
          <a:solidFill>
            <a:srgbClr val="F3E8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1188720"/>
            <a:ext cx="2011680" cy="27432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HiveMQ Cloud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74920" y="1481328"/>
            <a:ext cx="1920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 1883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motordignostic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59168" y="1737360"/>
            <a:ext cx="45720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160934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43800" y="1188720"/>
            <a:ext cx="1417320" cy="1097280"/>
          </a:xfrm>
          <a:prstGeom prst="rect">
            <a:avLst/>
          </a:prstGeom>
          <a:solidFill>
            <a:srgbClr val="E8F5E9"/>
          </a:solidFill>
          <a:ln w="1524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543800" y="1188720"/>
            <a:ext cx="141732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1481328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Plotly+3D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74720" y="4892040"/>
            <a:ext cx="0" cy="-50292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46704" y="4315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395728" y="457200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395728" y="45720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SH1106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108960" y="457200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08960" y="45720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822192" y="4572000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822192" y="45720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9808"/>
          <a:ext cx="8686800" cy="4251960"/>
        </p:xfrm>
        <a:graphic>
          <a:graphicData uri="http://schemas.openxmlformats.org/drawingml/2006/table">
            <a:tbl>
              <a:tblPr/>
              <a:tblGrid>
                <a:gridCol w="2103120"/>
                <a:gridCol w="3840480"/>
                <a:gridCol w="2743200"/>
              </a:tblGrid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 / Spec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GPIO Pin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F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(Dual-core 240MHz)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(1-Wire)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ACS712-20A (100mV/A)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34 (ADC)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SW-420 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 Effect / IR (1 pulse/rev)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LOW 5V relay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INPUT_PULLUP toggle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OLED Display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SH1106 128×64 I2C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SDA=21, SCL=22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DC, 3500 RPM no-load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 LED (Temp)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Red=GPIO15, Green=GPIO2, Blue=GPIO13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15/2/13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Green=GPIO25, Red=GPIO12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25/12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</a:tr>
              <a:tr h="327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LEDs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Green=GPIO5, Red=GPIO32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5/32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— Key Features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4251960" cy="38404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498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Sensor Reading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07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DS18B20 temp every 500ms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5453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ACS712: 10-sample moving avg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88366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RPM interrupt + 200µs debounce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219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SW-420 vibration digital read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49808"/>
            <a:ext cx="425196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74980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On-Board Diagnostics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207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 rate of change (°C/min)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54533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RPM rate (RPM/min)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88366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Vibration persistence counter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2219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Health: OK / Warning / Critical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52928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52928"/>
            <a:ext cx="42519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85292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MQTT Communication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3101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Broker: broker.hivemq.com:1883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364845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Topic: motordignostic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9867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payload every 500ms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Unique Client ID via chip MAC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852928"/>
            <a:ext cx="42519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852928"/>
            <a:ext cx="42519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5292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Offline Buffering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31012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Circular buffer: 200 entries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364845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Stores data on disconnect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9867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Auto-retransmits on reconnect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43251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Non-blocking millis() timers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Logic &amp; Health Status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50292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109728" cy="41605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49808"/>
            <a:ext cx="5029200" cy="2743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7498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FLAGS (4 Types)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88720"/>
            <a:ext cx="502920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12435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32688" y="151790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 70°C  OR  Rate &gt; 2°C/min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93392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993392"/>
            <a:ext cx="50292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933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20482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Overcurrent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" y="23225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&gt; 15.0 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798064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98064"/>
            <a:ext cx="5029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9806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28529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 Persist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31272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HIGH for 3+ readings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602736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02736"/>
            <a:ext cx="5029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0273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" y="36576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Drop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2688" y="39319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rate &lt; -200 RPM/min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749808"/>
            <a:ext cx="3429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749808"/>
            <a:ext cx="109728" cy="4160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0" y="749808"/>
            <a:ext cx="342900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7498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23560" y="1234440"/>
            <a:ext cx="3154680" cy="1005840"/>
          </a:xfrm>
          <a:prstGeom prst="rect">
            <a:avLst/>
          </a:prstGeom>
          <a:solidFill>
            <a:srgbClr val="E8F5E9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0" y="128930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16367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faults active. All parameters within normal range.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23560" y="2423160"/>
            <a:ext cx="3154680" cy="100584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715000" y="247802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15000" y="282549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Temp&gt;40°C OR RPM&lt;2975 OR Vibration count = 2.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23560" y="3611880"/>
            <a:ext cx="3154680" cy="100584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715000" y="366674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CRITICAL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15000" y="401421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or more fault flags are active.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Communication — JSON Payload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4892040" cy="4160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4892040" cy="2743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498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PAYLOAD (published every 500ms)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28016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B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  123456,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14813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"temperature": 42.5,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168249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"current":    2.30,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88366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"rpm":        3200,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08483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"vibration":  0,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2860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"health":    "Warning",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248716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B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"temp_rate":  1.2,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268833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B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"rpm_rate":  -85.5,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88950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"fault_flags": {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09067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"overheat":          0,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32918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"overcurrent":       0,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4930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"vibration_persist": 0,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369417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"rpm_drop":          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89534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09651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49240" y="749808"/>
            <a:ext cx="3566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49240" y="749808"/>
            <a:ext cx="109728" cy="4160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749808"/>
            <a:ext cx="35661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22392" y="749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CONFIGURATION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0" y="1170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Broker: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1170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broker.hivemq.com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16276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Port: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03720" y="1627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 (no auth)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20848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Topic: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2084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motordignostic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2542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📶 QoS: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2542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0, No Retain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0" y="2999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Interval: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03720" y="2999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500ms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34564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Client ID: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03720" y="3456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ESP32_MAC (unique)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39136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Network: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913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WiFi / Hotspot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0" y="43708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Reconnect: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03720" y="43708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every 5 seconds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 —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640080" cy="12801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749808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8595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Plotly Graphs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22529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Temp, Current, RPM, Vibration — 200-point rolling window, 500ms updates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74980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49808"/>
            <a:ext cx="640080" cy="1280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749808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58968" y="8595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 Sliders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58968" y="122529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adjustable sliders: Vib (1-10g), Temp (40-100°C), Current (1-15A)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16712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167128"/>
            <a:ext cx="640080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67128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78408" y="22768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Estimation in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8408" y="264261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on last 60s of data → Remaining Useful Life per parameter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16712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67128"/>
            <a:ext cx="640080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167128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58968" y="22768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Fault Flag Cards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58968" y="264261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Overheat, Overcurrent, Vib Persist, RPM Drop status indicators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358444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584448"/>
            <a:ext cx="64008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584448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78408" y="3694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Motor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405993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cylinder model with OrbitControls — drag to rotate, scroll to zoom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584448"/>
            <a:ext cx="4251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584448"/>
            <a:ext cx="640080" cy="1280160"/>
          </a:xfrm>
          <a:prstGeom prst="rect">
            <a:avLst/>
          </a:prstGeom>
          <a:solidFill>
            <a:srgbClr val="0B1C3F"/>
          </a:solidFill>
          <a:ln w="12700">
            <a:solidFill>
              <a:srgbClr val="0B1C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84448"/>
            <a:ext cx="640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58968" y="36941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Button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58968" y="405993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of all graph data as timestamped CSV file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0B1C3F"/>
          </a:solidFill>
          <a:ln w="12700">
            <a:solidFill>
              <a:srgbClr val="0B1C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FastAPI  |  paho-mqtt  |  Plotly.js  |  Three.js  |  WebSocket  |  Uvicorn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 (RUL) Estimation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8686800" cy="960120"/>
          </a:xfrm>
          <a:prstGeom prst="rect">
            <a:avLst/>
          </a:prstGeom>
          <a:solidFill>
            <a:srgbClr val="0B1C3F"/>
          </a:solidFill>
          <a:ln w="1905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164592" cy="9601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863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Linear Regression on last 60 seconds (120 samples) of sensor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0789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 (days)  =  (Critical Threshold – Current Value) ÷ Slope  ×  0.5 sec  ÷  86400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1920240"/>
            <a:ext cx="2788920" cy="2651760"/>
          </a:xfrm>
          <a:prstGeom prst="rect">
            <a:avLst/>
          </a:prstGeom>
          <a:solidFill>
            <a:srgbClr val="E0F7FA"/>
          </a:solidFill>
          <a:ln w="1905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920240"/>
            <a:ext cx="2788920" cy="38404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Temperature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95°C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7614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~42°C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0906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slope from 60s window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520440"/>
            <a:ext cx="7498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33856" y="3520440"/>
            <a:ext cx="7498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92808" y="3520440"/>
            <a:ext cx="7498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1-7d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92808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27248" y="1920240"/>
            <a:ext cx="2788920" cy="2651760"/>
          </a:xfrm>
          <a:prstGeom prst="rect">
            <a:avLst/>
          </a:prstGeom>
          <a:solidFill>
            <a:srgbClr val="FFF3E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27248" y="1920240"/>
            <a:ext cx="278892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Current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4408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6.0 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64408" y="27614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~2.3A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64408" y="30906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from 120 data samples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64408" y="3520440"/>
            <a:ext cx="7498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32504" y="3520440"/>
            <a:ext cx="7498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1456" y="3520440"/>
            <a:ext cx="7498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32504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1-7d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1456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25896" y="1920240"/>
            <a:ext cx="2788920" cy="2651760"/>
          </a:xfrm>
          <a:prstGeom prst="rect">
            <a:avLst/>
          </a:prstGeom>
          <a:solidFill>
            <a:srgbClr val="F3E8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25896" y="1920240"/>
            <a:ext cx="2788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99048" y="1920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📳 Vibration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63056" y="2423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1 (persist)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27614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63056" y="30906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persistent HIGH reads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3520440"/>
            <a:ext cx="7498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31152" y="3520440"/>
            <a:ext cx="7498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90104" y="3520440"/>
            <a:ext cx="7498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63056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31152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1-7d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90104" y="3520440"/>
            <a:ext cx="7498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System Performance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2084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2084832" cy="73152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1234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&amp; Publishing Rate (2Hz real-time)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749808"/>
            <a:ext cx="2084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749808"/>
            <a:ext cx="2084832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8046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23160" y="1234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14600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Latency (typical on WiFi)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749808"/>
            <a:ext cx="2084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749808"/>
            <a:ext cx="208483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8046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1234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 Offline Capacity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12280" y="749808"/>
            <a:ext cx="208483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749808"/>
            <a:ext cx="208483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804672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12280" y="1234440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~180mA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Typical Current Draw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331720"/>
            <a:ext cx="8686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331720"/>
            <a:ext cx="109728" cy="25146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2331720"/>
            <a:ext cx="8686800" cy="2743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697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Successful fault detection for all 4 fault types (Overheat, Overcurrent, Vib Persist, RPM Drop)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09981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RUL estimation functional using linear extrapolation — output in days with 3 colour zones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50215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Dashboard operational on any network via HiveMQ public broker — zero IP configuration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9044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OLED + RGB LEDs providing accurate real-time local feedback on all sensor states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30682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Circular buffer ensures zero data loss during MQTT disconnection — auto-retransmits on reconnect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vs Traditional Monitoring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49808"/>
          <a:ext cx="8686800" cy="4251960"/>
        </p:xfrm>
        <a:graphic>
          <a:graphicData uri="http://schemas.openxmlformats.org/drawingml/2006/table">
            <a:tbl>
              <a:tblPr/>
              <a:tblGrid>
                <a:gridCol w="2560320"/>
                <a:gridCol w="3063240"/>
                <a:gridCol w="306324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Traditional System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Our IoT System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 / periodic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Real-time every 500ms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After failure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Predictive — before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Access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Cloud via HiveMQ MQTT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Dependency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Fixed IP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Any WiFi / hotspot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Logging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Paper or local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Cloud + CSV export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 Estimation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Days estimate (3 parameters)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Feedback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OLED + RGB LEDs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Expensive hardware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Low-cost IoT components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749808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49808"/>
            <a:ext cx="109728" cy="41605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749808"/>
            <a:ext cx="4251960" cy="27432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70432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2070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ACS712 ADC Noise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Implemented 10-sample moving average filter for stable current readings.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920240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9568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RPM Interrupt Bounce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Added 200µs micros() debounce in ISR to eliminate false pulse counts.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066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MQTT IP Dependency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Switched to public HiveMQ broker — works on any network without IP config.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4564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Client ID Collision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Generated unique Client ID using ESP32 chip MAC address.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WiFi Credential Entry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462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Integrated WiFiManager — captive portal on first boot, no hardcoding.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749808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749808"/>
            <a:ext cx="109728" cy="4160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749808"/>
            <a:ext cx="425196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1170432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12070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ML Fault Classification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1463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 to auto-classify fault type from sensor patterns.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1920240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19568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2212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Flutter/React Native app for real-time motor monitoring on phone.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2670048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27066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AC Motor Extension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92040" y="2962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system to 3-phase AC induction motors.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3419856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34564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🛜 OTA Firmware Updates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3712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Over-The-Air firmware upgrade capability.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4169664"/>
            <a:ext cx="39776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AF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More Parameters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44622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back-EMF, power factor, bearing temperature sensors.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777240"/>
            <a:ext cx="3657600" cy="0"/>
          </a:xfrm>
          <a:prstGeom prst="line">
            <a:avLst/>
          </a:prstGeom>
          <a:noFill/>
          <a:ln w="1016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0D2554"/>
          </a:solidFill>
          <a:ln w="1270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IoT Digital Twin built for real-time DC motor fault analysis &amp; predictive maintenance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0D2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916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performs edge diagnostics + publishes JSON via MQTT to HiveMQ cloud every 500ms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0D2554"/>
          </a:solidFill>
          <a:ln w="1270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688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46888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dashboard: 4 live graphs, RUL in days, fault flags, 3D motor model &amp; CSV export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0D2554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2461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24612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is location-independent — works on any WiFi or hotspot via public MQTT broker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8229600" cy="658368"/>
          </a:xfrm>
          <a:prstGeom prst="rect">
            <a:avLst/>
          </a:prstGeom>
          <a:solidFill>
            <a:srgbClr val="0D2554"/>
          </a:solidFill>
          <a:ln w="1270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0233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402336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— extensible to other industrial motors &amp; IoT predictive maintenance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1920240" cy="256032"/>
          </a:xfrm>
          <a:prstGeom prst="rect">
            <a:avLst/>
          </a:prstGeom>
          <a:solidFill>
            <a:srgbClr val="0D2554"/>
          </a:solidFill>
          <a:ln w="6350">
            <a:solidFill>
              <a:srgbClr val="00D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36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Slides Presentation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42032" y="4736592"/>
            <a:ext cx="1920240" cy="256032"/>
          </a:xfrm>
          <a:prstGeom prst="rect">
            <a:avLst/>
          </a:prstGeom>
          <a:solidFill>
            <a:srgbClr val="0D2554"/>
          </a:solidFill>
          <a:ln w="6350">
            <a:solidFill>
              <a:srgbClr val="00D4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4736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Sensors &amp; Outputs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26864" y="4736592"/>
            <a:ext cx="1920240" cy="256032"/>
          </a:xfrm>
          <a:prstGeom prst="rect">
            <a:avLst/>
          </a:prstGeom>
          <a:solidFill>
            <a:srgbClr val="0D2554"/>
          </a:solidFill>
          <a:ln w="6350">
            <a:solidFill>
              <a:srgbClr val="00D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4736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Fault Types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11696" y="4736592"/>
            <a:ext cx="1920240" cy="256032"/>
          </a:xfrm>
          <a:prstGeom prst="rect">
            <a:avLst/>
          </a:prstGeom>
          <a:solidFill>
            <a:srgbClr val="0D2554"/>
          </a:solidFill>
          <a:ln w="6350">
            <a:solidFill>
              <a:srgbClr val="00D4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4736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Buffer Points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554"/>
          </a:solidFill>
          <a:ln w="12700">
            <a:solidFill>
              <a:srgbClr val="0D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9436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04672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04672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M. Grieves, "Digital Twin: Manufacturing Excellence through Virtual Factory Replication," White Paper, 2014.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25880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25880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F. Tao et al., "Digital Twin-Driven Product Design, Manufacturing and Service," Int. J. Adv. Manuf. Technol., 2018.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74320" y="1847088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47088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47088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A. Rassõlkin et al., "Digital twin of an electrical motor based on empirical performance model," IEEE ICEPDS, 2020.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2368296"/>
            <a:ext cx="859536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68296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68296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T. D. Lopes et al., "The Use of Digital Twins in Finite Element for Induction Motors Faults," Sensors, 2021.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9504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889504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Espressif Systems, "ESP32 Technical Reference Manual," espressif.com, 2023.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3410712"/>
            <a:ext cx="859536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10712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10712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HiveMQ, "MQTT Essentials — A Complete Guide to MQTT," hivemq.com, 2023.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931920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931920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Eclipse Foundation, "Paho MQTT Python Client Documentation," eclipse.org.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274320" y="4453128"/>
            <a:ext cx="8595360" cy="457200"/>
          </a:xfrm>
          <a:prstGeom prst="rect">
            <a:avLst/>
          </a:prstGeom>
          <a:solidFill>
            <a:srgbClr val="F0F4FA"/>
          </a:solidFill>
          <a:ln w="6350">
            <a:solidFill>
              <a:srgbClr val="E2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453128"/>
            <a:ext cx="91440" cy="457200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4453128"/>
            <a:ext cx="8275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Plotly Technologies, "Plotly Python Open Source Graphing Library," plotly.com.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74320"/>
            <a:ext cx="1097280" cy="1097280"/>
          </a:xfrm>
          <a:prstGeom prst="ellipse">
            <a:avLst/>
          </a:prstGeom>
          <a:solidFill>
            <a:srgbClr val="0D2554"/>
          </a:solidFill>
          <a:ln w="10160">
            <a:solidFill>
              <a:srgbClr val="00D4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0"/>
            <a:ext cx="731520" cy="731520"/>
          </a:xfrm>
          <a:prstGeom prst="ellipse">
            <a:avLst/>
          </a:prstGeom>
          <a:solidFill>
            <a:srgbClr val="0D2554"/>
          </a:solidFill>
          <a:ln w="10160">
            <a:solidFill>
              <a:srgbClr val="00D4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389120"/>
            <a:ext cx="548640" cy="548640"/>
          </a:xfrm>
          <a:prstGeom prst="ellipse">
            <a:avLst/>
          </a:prstGeom>
          <a:solidFill>
            <a:srgbClr val="0D2554"/>
          </a:solidFill>
          <a:ln w="10160">
            <a:solidFill>
              <a:srgbClr val="00D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2560320"/>
            <a:ext cx="1371600" cy="1371600"/>
          </a:xfrm>
          <a:prstGeom prst="ellipse">
            <a:avLst/>
          </a:prstGeom>
          <a:solidFill>
            <a:srgbClr val="0D2554"/>
          </a:solidFill>
          <a:ln w="10160">
            <a:solidFill>
              <a:srgbClr val="00D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E8"/>
          </a:solidFill>
          <a:ln w="12700">
            <a:solidFill>
              <a:srgbClr val="00D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2743200" y="2331720"/>
            <a:ext cx="3657600" cy="0"/>
          </a:xfrm>
          <a:prstGeom prst="line">
            <a:avLst/>
          </a:prstGeom>
          <a:noFill/>
          <a:ln w="19050">
            <a:solidFill>
              <a:srgbClr val="00D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4231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Digital Twin for Fault Analysis &amp; Predictive Maintenance of a DC Motor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611880"/>
            <a:ext cx="6949440" cy="987552"/>
          </a:xfrm>
          <a:prstGeom prst="rect">
            <a:avLst/>
          </a:prstGeom>
          <a:solidFill>
            <a:srgbClr val="0D2554"/>
          </a:solidFill>
          <a:ln w="12700">
            <a:solidFill>
              <a:srgbClr val="00D4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6576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Abdullah  |  Ubaid Ullah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95020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Supervisor: Dr. Qaiser Ajaz  |  Academic Year: 2025–26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88720" y="422452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System Engineering  —  The Islamia University of Bahawalpur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Digital Twin for DC Motor</dc:title>
  <dc:subject>PptxGenJS Presentation</dc:subject>
  <dc:creator>Abdullah &amp; Ubaid Ullah</dc:creator>
  <cp:lastModifiedBy>Abdullah &amp; Ubaid Ullah</cp:lastModifiedBy>
  <cp:revision>1</cp:revision>
  <dcterms:created xsi:type="dcterms:W3CDTF">2026-06-03T18:37:28Z</dcterms:created>
  <dcterms:modified xsi:type="dcterms:W3CDTF">2026-06-03T18:37:28Z</dcterms:modified>
</cp:coreProperties>
</file>